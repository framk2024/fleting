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7" r:id="rId12"/>
    <p:sldId id="270" r:id="rId13"/>
    <p:sldId id="268" r:id="rId14"/>
    <p:sldId id="271" r:id="rId15"/>
    <p:sldId id="272" r:id="rId16"/>
    <p:sldId id="269" r:id="rId17"/>
    <p:sldId id="273" r:id="rId18"/>
    <p:sldId id="263" r:id="rId1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60D"/>
    <a:srgbClr val="030511"/>
    <a:srgbClr val="001132"/>
    <a:srgbClr val="1A1844"/>
    <a:srgbClr val="050B13"/>
    <a:srgbClr val="030823"/>
    <a:srgbClr val="206099"/>
    <a:srgbClr val="17214D"/>
    <a:srgbClr val="040910"/>
    <a:srgbClr val="263B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141A9-F8D4-49EC-9C4D-927D9F4F570F}" type="datetimeFigureOut">
              <a:rPr lang="es-PE" smtClean="0"/>
              <a:t>5/04/2026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98027-3B3A-4BB5-8907-7096884B7C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785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7E8D4-2825-268A-2F6E-B97DE810A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11FF9C-F48A-5793-C4FD-9A036CFC9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D9AD68-3FF9-05B4-1C10-D1418725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93B2-7344-44D2-9A27-CC12DAE61EE2}" type="datetime1">
              <a:rPr lang="es-PE" smtClean="0"/>
              <a:t>5/04/2026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D7E4FC-03D9-4240-FFBD-67610736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85E256-62D3-38D6-E9DD-62BD3EF6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11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FF2E8-ADE7-443F-3F4E-582CC9E4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E33A7C-332C-5CA0-DC75-E8FCB5AC7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45FF6F-4935-38F4-4267-3C53120C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586F2-3165-4B14-93B7-AD33E8DD82AC}" type="datetime1">
              <a:rPr lang="es-PE" smtClean="0"/>
              <a:t>5/04/2026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9F9692-5836-D57F-68C8-CBFB94A3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0D1876-6F11-C2BD-0BF4-04196F2D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0852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C1518-67AA-D148-6301-8FEE8D46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37837F-9804-FA11-7163-35C75539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C7E877-2CD5-9BCC-8F4C-DEDC1F44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C59AA-6EAC-4A7A-A631-51427B224B99}" type="datetime1">
              <a:rPr lang="es-PE" smtClean="0"/>
              <a:t>5/04/2026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1A3F91-AAE0-8E9D-98B8-B22BEC82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599F99-2B94-3B7C-0CCC-D1F3B462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083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557F0-E33F-AED2-CEFE-167AEF32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C935D7-6145-24F6-AF4A-C4649EA7C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354118-2568-7A2A-7000-6730A67AB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F5E5EE-0C28-F4A9-15F8-5AEB60D3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803F-57F7-4C1B-867D-33CD352296C3}" type="datetime1">
              <a:rPr lang="es-PE" smtClean="0"/>
              <a:t>5/04/2026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D37D28-E07B-792F-2B87-7EBB407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A26ACC-6B4F-2352-6DB2-99723D2F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82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2D02B-0D92-366E-A022-537D5FBA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10EDE5-4C8A-77EE-6F6D-78BBDBD5F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2F2F09-A23B-BC7B-C2F4-D5D44FF67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917532-5F3F-3C60-AD12-4F65A2C4F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148786-FA44-A4CB-2AFD-62549AA75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776F85-EA33-C423-EEE8-C8A84DF8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3187-517F-47A2-BE63-1F4E20A02245}" type="datetime1">
              <a:rPr lang="es-PE" smtClean="0"/>
              <a:t>5/04/2026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58137F-8FAB-5F24-C4CF-22A02A4F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7197BF-0A29-C579-8B33-68D5FA06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068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6D689-CFA9-B9CA-DFA3-752CE1C9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610958-8C0E-FC78-2148-B000E585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81F0-662C-4CF3-AB40-C315A120E82E}" type="datetime1">
              <a:rPr lang="es-PE" smtClean="0"/>
              <a:t>5/04/2026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A59DC9-4BE4-0870-78C7-DC9EAC7E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896E96-6EC2-0FC8-FB3E-D251C942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121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9A1ECD-9953-3444-7B8B-4377E11D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718A-9155-432E-8757-90545517D677}" type="datetime1">
              <a:rPr lang="es-PE" smtClean="0"/>
              <a:t>5/04/2026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49A6F4-D352-FAF5-C65B-B0DA4994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BCBE46-26F7-D447-10D2-16AB31EA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379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11E48-5C6A-0452-F6FD-EA874B66B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7A6B98-6381-78F9-8665-F13EAF13B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F6FF94-1A3B-77F0-7BBD-4D673E196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B2B733-4966-95C5-11AD-C337ACE3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0C3A-9FBA-456A-9FB1-F7E4F80D0611}" type="datetime1">
              <a:rPr lang="es-PE" smtClean="0"/>
              <a:t>5/04/2026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5CC25D-3C33-6CC6-2671-AE948902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09FDF3-0BC3-4CBC-11C1-B8EC51E1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589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092E9-434A-E749-40E8-B0A4CB01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3332A0-5B5D-599B-3127-10245F633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AB65F0-8018-9930-0736-26F1000B4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22AD30-7ACC-5A0E-1E53-967128E7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3DAE-20C2-40F5-B264-C2EEE035231B}" type="datetime1">
              <a:rPr lang="es-PE" smtClean="0"/>
              <a:t>5/04/2026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7E3C8A-B649-518B-0025-BCCA3DD8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28D26D-CBA5-F2D2-FD88-0EA79D7F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21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A039B-2745-0D36-A2E2-387A90DB4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5898C8-4B32-52BE-021F-5BEB0D5EE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3ED8D6-FCDC-3791-7B10-93E1AAD7E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A941-DA43-42D2-B105-4B20A259E594}" type="datetime1">
              <a:rPr lang="es-PE" smtClean="0"/>
              <a:t>5/04/2026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95C138-47E1-CA49-4D86-8FF459B9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84C470-13E4-5811-9F7A-2B0F627E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09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48AC1-FB37-F1C9-2315-70ADEDE0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0EDAC7-59F5-4EF6-4AA8-E137ED6C8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B68A5-E953-6FFE-21CF-9132EEF7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5B2F-A34A-48DF-9E6C-A1EB9AA0F49A}" type="datetime1">
              <a:rPr lang="es-PE" smtClean="0"/>
              <a:t>5/04/2026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ACA5C8-BFBA-68D0-488A-972CD12C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5CABC-7E82-E1C6-2499-EA3B51A9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693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FB00EE1-C115-C88E-D849-9E51A998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7BBE06-7C45-1535-14E5-681CB2E8F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2A7CA9-5798-5013-CB9E-94A58E2E8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1FC0A-1549-4798-8BE5-4F1DA55B2EF9}" type="datetime1">
              <a:rPr lang="es-PE" smtClean="0"/>
              <a:t>5/04/2026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BE1FFD-7B4D-9052-649C-CD575618F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471FC-D1A2-5517-80A3-FE74747D7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82A64-9479-4B8A-BF99-1CE8197C92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819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7F5E4C9-7027-EBED-330E-60BA75E2CDBE}"/>
              </a:ext>
            </a:extLst>
          </p:cNvPr>
          <p:cNvSpPr txBox="1"/>
          <p:nvPr/>
        </p:nvSpPr>
        <p:spPr>
          <a:xfrm>
            <a:off x="1455420" y="2803663"/>
            <a:ext cx="9281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CUADRO DE MANDOS APLICANDO POWER QUERY Y POWER PIVOT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PARA PRESENTACIÓN DE VENTAS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69BEAD-73E7-185B-7357-825406953AAD}"/>
              </a:ext>
            </a:extLst>
          </p:cNvPr>
          <p:cNvSpPr txBox="1"/>
          <p:nvPr/>
        </p:nvSpPr>
        <p:spPr>
          <a:xfrm>
            <a:off x="1664970" y="5405735"/>
            <a:ext cx="9281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Profesor: Framklin Dávila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</a:rPr>
              <a:t>LIMA 2025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B34649-EEB0-EB1B-2524-81A5B2FC3D09}"/>
              </a:ext>
            </a:extLst>
          </p:cNvPr>
          <p:cNvSpPr txBox="1"/>
          <p:nvPr/>
        </p:nvSpPr>
        <p:spPr>
          <a:xfrm>
            <a:off x="1562100" y="3777187"/>
            <a:ext cx="9281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Una Introducción</a:t>
            </a:r>
            <a:endParaRPr lang="es-P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93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2</a:t>
            </a:fld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193585-533A-232F-EC6E-9D77F75680DD}"/>
              </a:ext>
            </a:extLst>
          </p:cNvPr>
          <p:cNvSpPr txBox="1"/>
          <p:nvPr/>
        </p:nvSpPr>
        <p:spPr>
          <a:xfrm>
            <a:off x="4766310" y="1524258"/>
            <a:ext cx="44919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ES" sz="1400" dirty="0">
                <a:solidFill>
                  <a:schemeClr val="bg1"/>
                </a:solidFill>
              </a:rPr>
              <a:t>Introducción</a:t>
            </a:r>
          </a:p>
          <a:p>
            <a:r>
              <a:rPr lang="es-ES" sz="1400" dirty="0">
                <a:solidFill>
                  <a:schemeClr val="bg1"/>
                </a:solidFill>
              </a:rPr>
              <a:t>	Objetivo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2. Power Query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      	Importación de datos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      	Transformación de datos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      	Carga de datos limpios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3. Power Pivot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      	Creación de relaciones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Medidas con DAX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Modelo de datos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4. Cuadro de Mando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Tabla dinámica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Gráficos dinámicos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Visualización final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5. Conclusión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Resumen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Motivación para profundizar</a:t>
            </a:r>
          </a:p>
          <a:p>
            <a:r>
              <a:rPr lang="es-ES" sz="1400" dirty="0">
                <a:solidFill>
                  <a:schemeClr val="bg1"/>
                </a:solidFill>
              </a:rPr>
              <a:t>   	Preguntas finales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373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CONTENIDO</a:t>
            </a:r>
            <a:endParaRPr lang="es-P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74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3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INTRODUCCIÓN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73C869-78FA-FE3E-AA82-2FC52B425693}"/>
              </a:ext>
            </a:extLst>
          </p:cNvPr>
          <p:cNvSpPr txBox="1"/>
          <p:nvPr/>
        </p:nvSpPr>
        <p:spPr>
          <a:xfrm>
            <a:off x="1546860" y="2408605"/>
            <a:ext cx="9098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Objetivo: Construir cuadros de mando utilizando Power Query y Power Pivot en MS Excel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D475ED-DB41-9702-D2F5-143272C77C04}"/>
              </a:ext>
            </a:extLst>
          </p:cNvPr>
          <p:cNvSpPr txBox="1"/>
          <p:nvPr/>
        </p:nvSpPr>
        <p:spPr>
          <a:xfrm>
            <a:off x="1546860" y="3244334"/>
            <a:ext cx="9098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Logros: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Saber lo que es un Cuadro de Mando, Power Query y Power Pivot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Construir un Cuadro de Mando utilizando Power Query y Power Pivot en MS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Valorar la disponibilidad de un Cuadro de Mando en la toma de decisiones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8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4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POWER QUERY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C27047-E93C-743A-D44D-4C54480E6C4B}"/>
              </a:ext>
            </a:extLst>
          </p:cNvPr>
          <p:cNvSpPr txBox="1"/>
          <p:nvPr/>
        </p:nvSpPr>
        <p:spPr>
          <a:xfrm>
            <a:off x="1188720" y="2954566"/>
            <a:ext cx="9635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Power Query es una herramienta de Excel que permite concentrar datos importados desde diferentes fuente (archivos CSV, Api </a:t>
            </a:r>
            <a:r>
              <a:rPr lang="es-ES" dirty="0" err="1">
                <a:solidFill>
                  <a:schemeClr val="bg1"/>
                </a:solidFill>
              </a:rPr>
              <a:t>Rest</a:t>
            </a:r>
            <a:r>
              <a:rPr lang="es-ES" dirty="0">
                <a:solidFill>
                  <a:schemeClr val="bg1"/>
                </a:solidFill>
              </a:rPr>
              <a:t>, bases de datos, servicios web, etc.) . Facilita la preparación de la data base para su procesamiento y análisis con operaciones de limpieza y transformación.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82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5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POWER PIVOT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96CA95-F681-8FED-2C6E-FD519CFCA0EB}"/>
              </a:ext>
            </a:extLst>
          </p:cNvPr>
          <p:cNvSpPr txBox="1"/>
          <p:nvPr/>
        </p:nvSpPr>
        <p:spPr>
          <a:xfrm>
            <a:off x="1493996" y="2311807"/>
            <a:ext cx="100731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chemeClr val="bg1"/>
                </a:solidFill>
              </a:rPr>
              <a:t>Power Pivot</a:t>
            </a:r>
            <a:r>
              <a:rPr lang="es-ES" dirty="0">
                <a:solidFill>
                  <a:schemeClr val="bg1"/>
                </a:solidFill>
              </a:rPr>
              <a:t> es una herramienta avanzada de análisis de datos disponible en Excel. Permite trabajar con grandes volúmenes de datos, construir relaciones entre tablas y realizar cálculos complejos usando el lenguaje DAX (Data </a:t>
            </a:r>
            <a:r>
              <a:rPr lang="es-ES" dirty="0" err="1">
                <a:solidFill>
                  <a:schemeClr val="bg1"/>
                </a:solidFill>
              </a:rPr>
              <a:t>Analysis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Expressions</a:t>
            </a:r>
            <a:r>
              <a:rPr lang="es-ES" dirty="0">
                <a:solidFill>
                  <a:schemeClr val="bg1"/>
                </a:solidFill>
              </a:rPr>
              <a:t>). Es especialmente útil para crear modelos de datos robustos y eficientes dentro de Excel.</a:t>
            </a:r>
          </a:p>
          <a:p>
            <a:pPr algn="just"/>
            <a:r>
              <a:rPr lang="es-ES" dirty="0">
                <a:solidFill>
                  <a:schemeClr val="bg1"/>
                </a:solidFill>
              </a:rPr>
              <a:t>Sirve para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Análisis de grandes volúmenes de datos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Modelado de datos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Realizar cálculos u operaciones avanzadas con DAX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Creación de </a:t>
            </a:r>
            <a:r>
              <a:rPr lang="es-PE" dirty="0" err="1">
                <a:solidFill>
                  <a:schemeClr val="bg1"/>
                </a:solidFill>
              </a:rPr>
              <a:t>dashboards</a:t>
            </a:r>
            <a:endParaRPr lang="es-PE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Optimización del rendimiento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algn="just"/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6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6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POWER PIVOT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96CA95-F681-8FED-2C6E-FD519CFCA0EB}"/>
              </a:ext>
            </a:extLst>
          </p:cNvPr>
          <p:cNvSpPr txBox="1"/>
          <p:nvPr/>
        </p:nvSpPr>
        <p:spPr>
          <a:xfrm>
            <a:off x="1493996" y="2311807"/>
            <a:ext cx="100731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Sirve para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Análisis de grandes volúmenes de datos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Modelado de datos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Realizar cálculos u operaciones avanzadas con DAX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Creación de </a:t>
            </a:r>
            <a:r>
              <a:rPr lang="es-PE" dirty="0" err="1">
                <a:solidFill>
                  <a:schemeClr val="bg1"/>
                </a:solidFill>
              </a:rPr>
              <a:t>dashboards</a:t>
            </a:r>
            <a:endParaRPr lang="es-PE" dirty="0">
              <a:solidFill>
                <a:schemeClr val="bg1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Optimización del rendimiento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algn="just"/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102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7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3028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CUADRO DE MANDO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C37F82-3092-4FA3-4F68-431F2DA8DBFC}"/>
              </a:ext>
            </a:extLst>
          </p:cNvPr>
          <p:cNvSpPr txBox="1"/>
          <p:nvPr/>
        </p:nvSpPr>
        <p:spPr>
          <a:xfrm>
            <a:off x="1145381" y="3167910"/>
            <a:ext cx="10513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Un </a:t>
            </a:r>
            <a:r>
              <a:rPr lang="es-ES" b="1" dirty="0">
                <a:solidFill>
                  <a:schemeClr val="bg1"/>
                </a:solidFill>
              </a:rPr>
              <a:t>cuadro de mando</a:t>
            </a:r>
            <a:r>
              <a:rPr lang="es-ES" dirty="0">
                <a:solidFill>
                  <a:schemeClr val="bg1"/>
                </a:solidFill>
              </a:rPr>
              <a:t> o </a:t>
            </a:r>
            <a:r>
              <a:rPr lang="es-ES" b="1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es una herramienta visual que permite resumir, monitorear y analizar datos de manera clara e interactiva. Se utiliza para tomar decisiones informadas al proporcionar una visión general rápida y comprensible del desempeño, tendencias y métricas clave de un proyecto, empresa o área específica.</a:t>
            </a:r>
          </a:p>
        </p:txBody>
      </p:sp>
    </p:spTree>
    <p:extLst>
      <p:ext uri="{BB962C8B-B14F-4D97-AF65-F5344CB8AC3E}">
        <p14:creationId xmlns:p14="http://schemas.microsoft.com/office/powerpoint/2010/main" val="137881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8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3028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CUADRO DE MANDO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064A82-D730-B7F0-F56C-ABF2059CE893}"/>
              </a:ext>
            </a:extLst>
          </p:cNvPr>
          <p:cNvSpPr txBox="1"/>
          <p:nvPr/>
        </p:nvSpPr>
        <p:spPr>
          <a:xfrm>
            <a:off x="1165860" y="2651760"/>
            <a:ext cx="102984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i="1" dirty="0">
                <a:solidFill>
                  <a:schemeClr val="bg1"/>
                </a:solidFill>
              </a:rPr>
              <a:t>“Un cuadro de mando es una herramienta visual que muestra información clave de manera clara y concisa. Una representación de fácil compresión que ayuda a las organizaciones a tomar decisiones sobre información relevantes  basada en datos”</a:t>
            </a:r>
            <a:endParaRPr lang="es-PE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2872ED-0570-3780-4703-62FA7B8EADF7}"/>
              </a:ext>
            </a:extLst>
          </p:cNvPr>
          <p:cNvSpPr txBox="1"/>
          <p:nvPr/>
        </p:nvSpPr>
        <p:spPr>
          <a:xfrm>
            <a:off x="1433036" y="4582517"/>
            <a:ext cx="976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Un buen </a:t>
            </a:r>
            <a:r>
              <a:rPr lang="es-ES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es intuitivo, accesible y proporciona información accionable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17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9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3028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CUADRO DE MANDO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C37F82-3092-4FA3-4F68-431F2DA8DBFC}"/>
              </a:ext>
            </a:extLst>
          </p:cNvPr>
          <p:cNvSpPr txBox="1"/>
          <p:nvPr/>
        </p:nvSpPr>
        <p:spPr>
          <a:xfrm>
            <a:off x="1156811" y="2254657"/>
            <a:ext cx="1051321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Un </a:t>
            </a:r>
            <a:r>
              <a:rPr lang="es-ES" b="1" dirty="0">
                <a:solidFill>
                  <a:schemeClr val="bg1"/>
                </a:solidFill>
              </a:rPr>
              <a:t>cuadro de mando</a:t>
            </a:r>
            <a:r>
              <a:rPr lang="es-ES" dirty="0">
                <a:solidFill>
                  <a:schemeClr val="bg1"/>
                </a:solidFill>
              </a:rPr>
              <a:t> se apoya en tablas dinámicas, filtros y elementos visuales de representación de rápida y fácil comprensión y sirve principalmente para:</a:t>
            </a:r>
          </a:p>
          <a:p>
            <a:pPr algn="just"/>
            <a:endParaRPr lang="es-ES" dirty="0">
              <a:solidFill>
                <a:schemeClr val="bg1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Monitorear rendimiento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Consolidar información:**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</a:rPr>
              <a:t>Comunicar resultados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Automatizar informes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Tomar decisiones rápidas</a:t>
            </a:r>
          </a:p>
          <a:p>
            <a:pPr algn="just"/>
            <a:endParaRPr lang="es-PE" dirty="0">
              <a:solidFill>
                <a:schemeClr val="bg1"/>
              </a:solidFill>
              <a:latin typeface="Segoe UI Emoj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PE" sz="1800" dirty="0">
              <a:effectLst/>
              <a:latin typeface="Segoe UI Emoji" panose="020B0502040204020203" pitchFamily="34" charset="0"/>
              <a:ea typeface="Aptos" panose="020B0004020202020204" pitchFamily="34" charset="0"/>
              <a:cs typeface="Segoe UI Emoj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40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10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614BB1-ACC8-10BF-6530-4115C3FDD444}"/>
              </a:ext>
            </a:extLst>
          </p:cNvPr>
          <p:cNvSpPr txBox="1"/>
          <p:nvPr/>
        </p:nvSpPr>
        <p:spPr>
          <a:xfrm>
            <a:off x="701040" y="2411670"/>
            <a:ext cx="9551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Empresa de venta de comida rápida </a:t>
            </a:r>
            <a:endParaRPr lang="es-PE" sz="20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9EA426-FCD4-68EF-C98B-A3CCA043EFA7}"/>
              </a:ext>
            </a:extLst>
          </p:cNvPr>
          <p:cNvSpPr txBox="1"/>
          <p:nvPr/>
        </p:nvSpPr>
        <p:spPr>
          <a:xfrm>
            <a:off x="861060" y="3158043"/>
            <a:ext cx="9551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Datos de ventas en sus local y por aplicativos (Didi, Pedidos Ya y </a:t>
            </a:r>
            <a:r>
              <a:rPr lang="es-ES" sz="2000" dirty="0" err="1">
                <a:solidFill>
                  <a:schemeClr val="bg1"/>
                </a:solidFill>
              </a:rPr>
              <a:t>Rappi</a:t>
            </a:r>
            <a:r>
              <a:rPr lang="es-ES" sz="2000" dirty="0">
                <a:solidFill>
                  <a:schemeClr val="bg1"/>
                </a:solidFill>
              </a:rPr>
              <a:t>) </a:t>
            </a:r>
            <a:endParaRPr lang="es-PE" sz="20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B1496D-6762-0183-198E-3693EB9E087F}"/>
              </a:ext>
            </a:extLst>
          </p:cNvPr>
          <p:cNvSpPr txBox="1"/>
          <p:nvPr/>
        </p:nvSpPr>
        <p:spPr>
          <a:xfrm>
            <a:off x="861060" y="3810768"/>
            <a:ext cx="95516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Los datos provienen de seis locales, lo cuales venden directamente en sus locales o por aplicativo </a:t>
            </a:r>
            <a:endParaRPr lang="es-P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57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11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614BB1-ACC8-10BF-6530-4115C3FDD444}"/>
              </a:ext>
            </a:extLst>
          </p:cNvPr>
          <p:cNvSpPr txBox="1"/>
          <p:nvPr/>
        </p:nvSpPr>
        <p:spPr>
          <a:xfrm>
            <a:off x="594360" y="3228945"/>
            <a:ext cx="9551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Limpieza y transformación, uso de Power Query </a:t>
            </a:r>
            <a:endParaRPr lang="es-PE" sz="20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48FAD1-3728-B4B8-C072-07D4A7DA9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7" y="3917769"/>
            <a:ext cx="10736173" cy="159089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6B8A5B8-B31E-6A2F-FAC9-3B990612587D}"/>
              </a:ext>
            </a:extLst>
          </p:cNvPr>
          <p:cNvSpPr txBox="1"/>
          <p:nvPr/>
        </p:nvSpPr>
        <p:spPr>
          <a:xfrm>
            <a:off x="7289471" y="5815684"/>
            <a:ext cx="3810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rgbClr val="FFFF00"/>
                </a:solidFill>
              </a:rPr>
              <a:t>Asignar tarea</a:t>
            </a:r>
            <a:endParaRPr lang="es-PE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57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12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614BB1-ACC8-10BF-6530-4115C3FDD444}"/>
              </a:ext>
            </a:extLst>
          </p:cNvPr>
          <p:cNvSpPr txBox="1"/>
          <p:nvPr/>
        </p:nvSpPr>
        <p:spPr>
          <a:xfrm>
            <a:off x="594360" y="3228945"/>
            <a:ext cx="95516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Se crea la tabla de hecho y categorías, se muestran dos categorías y se asignan las otras a los alumnos. </a:t>
            </a:r>
            <a:endParaRPr lang="es-PE" sz="20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48FAD1-3728-B4B8-C072-07D4A7DA9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7" y="4054929"/>
            <a:ext cx="10736173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40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13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614BB1-ACC8-10BF-6530-4115C3FDD444}"/>
              </a:ext>
            </a:extLst>
          </p:cNvPr>
          <p:cNvSpPr txBox="1"/>
          <p:nvPr/>
        </p:nvSpPr>
        <p:spPr>
          <a:xfrm>
            <a:off x="594360" y="2211675"/>
            <a:ext cx="41376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</a:rPr>
              <a:t>Modelado y construcción del sistema base para creación de tablas y gráficos, uso de Power Query para el modelado de datos (hechos y categorías), construcción de tablas dinámicas y </a:t>
            </a:r>
            <a:r>
              <a:rPr lang="es-ES" sz="2000" dirty="0" err="1">
                <a:solidFill>
                  <a:schemeClr val="bg1"/>
                </a:solidFill>
              </a:rPr>
              <a:t>segmentadores</a:t>
            </a:r>
            <a:r>
              <a:rPr lang="es-ES" sz="2000" dirty="0">
                <a:solidFill>
                  <a:schemeClr val="bg1"/>
                </a:solidFill>
              </a:rPr>
              <a:t> (filtros).  </a:t>
            </a:r>
            <a:endParaRPr lang="es-PE" sz="20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BFB0C0-8C16-B936-38D6-F0BF46432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946" y="1193799"/>
            <a:ext cx="5522384" cy="507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47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14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2029C7-714F-C7B5-3061-5C82D0689716}"/>
              </a:ext>
            </a:extLst>
          </p:cNvPr>
          <p:cNvSpPr txBox="1"/>
          <p:nvPr/>
        </p:nvSpPr>
        <p:spPr>
          <a:xfrm>
            <a:off x="1024061" y="3105834"/>
            <a:ext cx="10507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 err="1">
                <a:solidFill>
                  <a:schemeClr val="bg1"/>
                </a:solidFill>
              </a:rPr>
              <a:t>let</a:t>
            </a:r>
            <a:r>
              <a:rPr lang="es-PE" dirty="0">
                <a:solidFill>
                  <a:schemeClr val="bg1"/>
                </a:solidFill>
              </a:rPr>
              <a:t> Cal = </a:t>
            </a:r>
            <a:r>
              <a:rPr lang="es-PE" dirty="0" err="1">
                <a:solidFill>
                  <a:schemeClr val="bg1"/>
                </a:solidFill>
              </a:rPr>
              <a:t>List.Dates</a:t>
            </a:r>
            <a:r>
              <a:rPr lang="es-PE" dirty="0">
                <a:solidFill>
                  <a:schemeClr val="bg1"/>
                </a:solidFill>
              </a:rPr>
              <a:t>(</a:t>
            </a:r>
            <a:r>
              <a:rPr lang="es-PE" dirty="0" err="1">
                <a:solidFill>
                  <a:schemeClr val="bg1"/>
                </a:solidFill>
              </a:rPr>
              <a:t>DateTime.Date</a:t>
            </a:r>
            <a:r>
              <a:rPr lang="es-PE" dirty="0">
                <a:solidFill>
                  <a:schemeClr val="bg1"/>
                </a:solidFill>
              </a:rPr>
              <a:t>(</a:t>
            </a:r>
            <a:r>
              <a:rPr lang="es-PE" dirty="0" err="1">
                <a:solidFill>
                  <a:schemeClr val="bg1"/>
                </a:solidFill>
              </a:rPr>
              <a:t>List.Min</a:t>
            </a:r>
            <a:r>
              <a:rPr lang="es-PE" dirty="0">
                <a:solidFill>
                  <a:schemeClr val="bg1"/>
                </a:solidFill>
              </a:rPr>
              <a:t>(BASE[Fecha])),3, #duration(1, 0, 0, 0)) in Cal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C63878-AAF7-F3A8-94DF-6117AFE51113}"/>
              </a:ext>
            </a:extLst>
          </p:cNvPr>
          <p:cNvSpPr txBox="1"/>
          <p:nvPr/>
        </p:nvSpPr>
        <p:spPr>
          <a:xfrm>
            <a:off x="1024061" y="5010576"/>
            <a:ext cx="9604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bg1"/>
                </a:solidFill>
              </a:rPr>
              <a:t>= </a:t>
            </a:r>
            <a:r>
              <a:rPr lang="es-PE" dirty="0" err="1">
                <a:solidFill>
                  <a:schemeClr val="bg1"/>
                </a:solidFill>
              </a:rPr>
              <a:t>Table.AddColumn</a:t>
            </a:r>
            <a:r>
              <a:rPr lang="es-PE" dirty="0">
                <a:solidFill>
                  <a:schemeClr val="bg1"/>
                </a:solidFill>
              </a:rPr>
              <a:t>(#"Personalizada agregada", "Fecha", </a:t>
            </a:r>
            <a:r>
              <a:rPr lang="es-PE" dirty="0" err="1">
                <a:solidFill>
                  <a:schemeClr val="bg1"/>
                </a:solidFill>
              </a:rPr>
              <a:t>each</a:t>
            </a:r>
            <a:r>
              <a:rPr lang="es-PE" dirty="0">
                <a:solidFill>
                  <a:schemeClr val="bg1"/>
                </a:solidFill>
              </a:rPr>
              <a:t> </a:t>
            </a:r>
            <a:r>
              <a:rPr lang="es-PE" dirty="0" err="1">
                <a:solidFill>
                  <a:schemeClr val="bg1"/>
                </a:solidFill>
              </a:rPr>
              <a:t>Number.ToText</a:t>
            </a:r>
            <a:r>
              <a:rPr lang="es-PE" dirty="0">
                <a:solidFill>
                  <a:schemeClr val="bg1"/>
                </a:solidFill>
              </a:rPr>
              <a:t>([Día])&amp;[MA]&amp;</a:t>
            </a:r>
            <a:r>
              <a:rPr lang="es-PE" dirty="0" err="1">
                <a:solidFill>
                  <a:schemeClr val="bg1"/>
                </a:solidFill>
              </a:rPr>
              <a:t>Number.ToText</a:t>
            </a:r>
            <a:r>
              <a:rPr lang="es-PE" dirty="0">
                <a:solidFill>
                  <a:schemeClr val="bg1"/>
                </a:solidFill>
              </a:rPr>
              <a:t>([Hora.1])&amp;":"&amp;</a:t>
            </a:r>
            <a:r>
              <a:rPr lang="es-PE" dirty="0" err="1">
                <a:solidFill>
                  <a:schemeClr val="bg1"/>
                </a:solidFill>
              </a:rPr>
              <a:t>Number.ToText</a:t>
            </a:r>
            <a:r>
              <a:rPr lang="es-PE" dirty="0">
                <a:solidFill>
                  <a:schemeClr val="bg1"/>
                </a:solidFill>
              </a:rPr>
              <a:t>([Minuto])&amp;":00")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99907F-159B-FE2C-446B-BEAF66D46BA1}"/>
              </a:ext>
            </a:extLst>
          </p:cNvPr>
          <p:cNvSpPr txBox="1"/>
          <p:nvPr/>
        </p:nvSpPr>
        <p:spPr>
          <a:xfrm>
            <a:off x="1024061" y="4174609"/>
            <a:ext cx="9301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bg1"/>
                </a:solidFill>
              </a:rPr>
              <a:t>= </a:t>
            </a:r>
            <a:r>
              <a:rPr lang="es-PE" dirty="0" err="1">
                <a:solidFill>
                  <a:schemeClr val="bg1"/>
                </a:solidFill>
              </a:rPr>
              <a:t>Table.AddColumn</a:t>
            </a:r>
            <a:r>
              <a:rPr lang="es-PE" dirty="0">
                <a:solidFill>
                  <a:schemeClr val="bg1"/>
                </a:solidFill>
              </a:rPr>
              <a:t>(#"Minuto insertado", "MA", </a:t>
            </a:r>
            <a:r>
              <a:rPr lang="es-PE" dirty="0" err="1">
                <a:solidFill>
                  <a:schemeClr val="bg1"/>
                </a:solidFill>
              </a:rPr>
              <a:t>each</a:t>
            </a:r>
            <a:r>
              <a:rPr lang="es-PE" dirty="0">
                <a:solidFill>
                  <a:schemeClr val="bg1"/>
                </a:solidFill>
              </a:rPr>
              <a:t> "/10/2024 </a:t>
            </a:r>
            <a:r>
              <a:rPr lang="es-PE" dirty="0"/>
              <a:t>")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4324CC-A736-4831-9757-6571585BE866}"/>
              </a:ext>
            </a:extLst>
          </p:cNvPr>
          <p:cNvSpPr txBox="1"/>
          <p:nvPr/>
        </p:nvSpPr>
        <p:spPr>
          <a:xfrm>
            <a:off x="7542811" y="5821962"/>
            <a:ext cx="3810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rgbClr val="FFFF00"/>
                </a:solidFill>
              </a:rPr>
              <a:t>Asignar tarea</a:t>
            </a:r>
            <a:endParaRPr lang="es-PE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774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15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C7F9C4-1FE6-DD4D-36FE-4356E4585427}"/>
              </a:ext>
            </a:extLst>
          </p:cNvPr>
          <p:cNvSpPr txBox="1"/>
          <p:nvPr/>
        </p:nvSpPr>
        <p:spPr>
          <a:xfrm>
            <a:off x="1433945" y="2863798"/>
            <a:ext cx="835132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800" dirty="0" err="1"/>
              <a:t>let</a:t>
            </a:r>
            <a:endParaRPr lang="es-PE" sz="800" dirty="0"/>
          </a:p>
          <a:p>
            <a:r>
              <a:rPr lang="es-PE" sz="800" dirty="0">
                <a:solidFill>
                  <a:schemeClr val="bg1"/>
                </a:solidFill>
              </a:rPr>
              <a:t>    Origen = </a:t>
            </a:r>
            <a:r>
              <a:rPr lang="es-PE" sz="800" dirty="0" err="1">
                <a:solidFill>
                  <a:schemeClr val="bg1"/>
                </a:solidFill>
              </a:rPr>
              <a:t>Excel.Workbook</a:t>
            </a:r>
            <a:r>
              <a:rPr lang="es-PE" sz="800" dirty="0">
                <a:solidFill>
                  <a:schemeClr val="bg1"/>
                </a:solidFill>
              </a:rPr>
              <a:t>(</a:t>
            </a:r>
            <a:r>
              <a:rPr lang="es-PE" sz="800" dirty="0" err="1">
                <a:solidFill>
                  <a:schemeClr val="bg1"/>
                </a:solidFill>
              </a:rPr>
              <a:t>File.Contents</a:t>
            </a:r>
            <a:r>
              <a:rPr lang="es-PE" sz="800" dirty="0">
                <a:solidFill>
                  <a:schemeClr val="bg1"/>
                </a:solidFill>
              </a:rPr>
              <a:t>("D:\Descargas\match.xlsx"), </a:t>
            </a:r>
            <a:r>
              <a:rPr lang="es-PE" sz="800" dirty="0" err="1">
                <a:solidFill>
                  <a:schemeClr val="bg1"/>
                </a:solidFill>
              </a:rPr>
              <a:t>null</a:t>
            </a:r>
            <a:r>
              <a:rPr lang="es-PE" sz="800" dirty="0">
                <a:solidFill>
                  <a:schemeClr val="bg1"/>
                </a:solidFill>
              </a:rPr>
              <a:t>, true),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</a:t>
            </a:r>
            <a:r>
              <a:rPr lang="es-PE" sz="800" dirty="0" err="1">
                <a:solidFill>
                  <a:schemeClr val="bg1"/>
                </a:solidFill>
              </a:rPr>
              <a:t>BASE_Sheet</a:t>
            </a:r>
            <a:r>
              <a:rPr lang="es-PE" sz="800" dirty="0">
                <a:solidFill>
                  <a:schemeClr val="bg1"/>
                </a:solidFill>
              </a:rPr>
              <a:t> = Origen{[</a:t>
            </a:r>
            <a:r>
              <a:rPr lang="es-PE" sz="800" dirty="0" err="1">
                <a:solidFill>
                  <a:schemeClr val="bg1"/>
                </a:solidFill>
              </a:rPr>
              <a:t>Item</a:t>
            </a:r>
            <a:r>
              <a:rPr lang="es-PE" sz="800" dirty="0">
                <a:solidFill>
                  <a:schemeClr val="bg1"/>
                </a:solidFill>
              </a:rPr>
              <a:t>="BASE",</a:t>
            </a:r>
            <a:r>
              <a:rPr lang="es-PE" sz="800" dirty="0" err="1">
                <a:solidFill>
                  <a:schemeClr val="bg1"/>
                </a:solidFill>
              </a:rPr>
              <a:t>Kind</a:t>
            </a:r>
            <a:r>
              <a:rPr lang="es-PE" sz="800" dirty="0">
                <a:solidFill>
                  <a:schemeClr val="bg1"/>
                </a:solidFill>
              </a:rPr>
              <a:t>="</a:t>
            </a:r>
            <a:r>
              <a:rPr lang="es-PE" sz="800" dirty="0" err="1">
                <a:solidFill>
                  <a:schemeClr val="bg1"/>
                </a:solidFill>
              </a:rPr>
              <a:t>Sheet</a:t>
            </a:r>
            <a:r>
              <a:rPr lang="es-PE" sz="800" dirty="0">
                <a:solidFill>
                  <a:schemeClr val="bg1"/>
                </a:solidFill>
              </a:rPr>
              <a:t>"]}[Data],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#"Encabezados promovidos" = </a:t>
            </a:r>
            <a:r>
              <a:rPr lang="es-PE" sz="800" dirty="0" err="1">
                <a:solidFill>
                  <a:schemeClr val="bg1"/>
                </a:solidFill>
              </a:rPr>
              <a:t>Table.PromoteHeaders</a:t>
            </a:r>
            <a:r>
              <a:rPr lang="es-PE" sz="800" dirty="0">
                <a:solidFill>
                  <a:schemeClr val="bg1"/>
                </a:solidFill>
              </a:rPr>
              <a:t>(</a:t>
            </a:r>
            <a:r>
              <a:rPr lang="es-PE" sz="800" dirty="0" err="1">
                <a:solidFill>
                  <a:schemeClr val="bg1"/>
                </a:solidFill>
              </a:rPr>
              <a:t>BASE_Sheet</a:t>
            </a:r>
            <a:r>
              <a:rPr lang="es-PE" sz="800" dirty="0">
                <a:solidFill>
                  <a:schemeClr val="bg1"/>
                </a:solidFill>
              </a:rPr>
              <a:t>, [</a:t>
            </a:r>
            <a:r>
              <a:rPr lang="es-PE" sz="800" dirty="0" err="1">
                <a:solidFill>
                  <a:schemeClr val="bg1"/>
                </a:solidFill>
              </a:rPr>
              <a:t>PromoteAllScalars</a:t>
            </a:r>
            <a:r>
              <a:rPr lang="es-PE" sz="800" dirty="0">
                <a:solidFill>
                  <a:schemeClr val="bg1"/>
                </a:solidFill>
              </a:rPr>
              <a:t>=true]),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#"Tipo cambiado" = </a:t>
            </a:r>
            <a:r>
              <a:rPr lang="es-PE" sz="800" dirty="0" err="1">
                <a:solidFill>
                  <a:schemeClr val="bg1"/>
                </a:solidFill>
              </a:rPr>
              <a:t>Table.TransformColumnTypes</a:t>
            </a:r>
            <a:r>
              <a:rPr lang="es-PE" sz="800" dirty="0">
                <a:solidFill>
                  <a:schemeClr val="bg1"/>
                </a:solidFill>
              </a:rPr>
              <a:t>(#"Encabezados promovidos",{{"BOLFAC",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{"Día", Int64.Type}, {"Hora",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datetime</a:t>
            </a:r>
            <a:r>
              <a:rPr lang="es-PE" sz="800" dirty="0">
                <a:solidFill>
                  <a:schemeClr val="bg1"/>
                </a:solidFill>
              </a:rPr>
              <a:t>}, {"LOCAL",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</a:t>
            </a:r>
            <a:r>
              <a:rPr lang="es-PE" sz="800" dirty="0" err="1">
                <a:solidFill>
                  <a:schemeClr val="bg1"/>
                </a:solidFill>
              </a:rPr>
              <a:t>MarcaP</a:t>
            </a:r>
            <a:r>
              <a:rPr lang="es-PE" sz="800" dirty="0">
                <a:solidFill>
                  <a:schemeClr val="bg1"/>
                </a:solidFill>
              </a:rPr>
              <a:t>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</a:t>
            </a:r>
            <a:r>
              <a:rPr lang="es-PE" sz="800" dirty="0" err="1">
                <a:solidFill>
                  <a:schemeClr val="bg1"/>
                </a:solidFill>
              </a:rPr>
              <a:t>EstadoPrev</a:t>
            </a:r>
            <a:r>
              <a:rPr lang="es-PE" sz="800" dirty="0">
                <a:solidFill>
                  <a:schemeClr val="bg1"/>
                </a:solidFill>
              </a:rPr>
              <a:t>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{"Total",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number</a:t>
            </a:r>
            <a:r>
              <a:rPr lang="es-PE" sz="800" dirty="0">
                <a:solidFill>
                  <a:schemeClr val="bg1"/>
                </a:solidFill>
              </a:rPr>
              <a:t>}, {"Aplicativo",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{"Canal de </a:t>
            </a:r>
            <a:r>
              <a:rPr lang="es-PE" sz="800" dirty="0" err="1">
                <a:solidFill>
                  <a:schemeClr val="bg1"/>
                </a:solidFill>
              </a:rPr>
              <a:t>delivery</a:t>
            </a:r>
            <a:r>
              <a:rPr lang="es-PE" sz="800" dirty="0">
                <a:solidFill>
                  <a:schemeClr val="bg1"/>
                </a:solidFill>
              </a:rPr>
              <a:t>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{"Caja",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{"Forma de pago",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{"Marca",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{"SEDE",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{"Estado",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{"CANAL2",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}, {"INDICE",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text</a:t>
            </a:r>
            <a:r>
              <a:rPr lang="es-PE" sz="800" dirty="0">
                <a:solidFill>
                  <a:schemeClr val="bg1"/>
                </a:solidFill>
              </a:rPr>
              <a:t>}}),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#"Otras columnas quitadas" = </a:t>
            </a:r>
            <a:r>
              <a:rPr lang="es-PE" sz="800" dirty="0" err="1">
                <a:solidFill>
                  <a:schemeClr val="bg1"/>
                </a:solidFill>
              </a:rPr>
              <a:t>Table.SelectColumns</a:t>
            </a:r>
            <a:r>
              <a:rPr lang="es-PE" sz="800" dirty="0">
                <a:solidFill>
                  <a:schemeClr val="bg1"/>
                </a:solidFill>
              </a:rPr>
              <a:t>(#"Tipo cambiado",{"Día", "Hora", "Total", "Aplicativo", "Marca", "SEDE", "Estado"}),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#"Fecha insertada" = </a:t>
            </a:r>
            <a:r>
              <a:rPr lang="es-PE" sz="800" dirty="0" err="1">
                <a:solidFill>
                  <a:schemeClr val="bg1"/>
                </a:solidFill>
              </a:rPr>
              <a:t>Table.AddColumn</a:t>
            </a:r>
            <a:r>
              <a:rPr lang="es-PE" sz="800" dirty="0">
                <a:solidFill>
                  <a:schemeClr val="bg1"/>
                </a:solidFill>
              </a:rPr>
              <a:t>(#"Otras columnas quitadas", "Fecha", </a:t>
            </a:r>
            <a:r>
              <a:rPr lang="es-PE" sz="800" dirty="0" err="1">
                <a:solidFill>
                  <a:schemeClr val="bg1"/>
                </a:solidFill>
              </a:rPr>
              <a:t>each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DateTime.Date</a:t>
            </a:r>
            <a:r>
              <a:rPr lang="es-PE" sz="800" dirty="0">
                <a:solidFill>
                  <a:schemeClr val="bg1"/>
                </a:solidFill>
              </a:rPr>
              <a:t>([Hora]),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date),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#"Columnas quitadas" = </a:t>
            </a:r>
            <a:r>
              <a:rPr lang="es-PE" sz="800" dirty="0" err="1">
                <a:solidFill>
                  <a:schemeClr val="bg1"/>
                </a:solidFill>
              </a:rPr>
              <a:t>Table.RemoveColumns</a:t>
            </a:r>
            <a:r>
              <a:rPr lang="es-PE" sz="800" dirty="0">
                <a:solidFill>
                  <a:schemeClr val="bg1"/>
                </a:solidFill>
              </a:rPr>
              <a:t>(#"Fecha insertada",{"Fecha"}),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#"Hora insertada" = </a:t>
            </a:r>
            <a:r>
              <a:rPr lang="es-PE" sz="800" dirty="0" err="1">
                <a:solidFill>
                  <a:schemeClr val="bg1"/>
                </a:solidFill>
              </a:rPr>
              <a:t>Table.AddColumn</a:t>
            </a:r>
            <a:r>
              <a:rPr lang="es-PE" sz="800" dirty="0">
                <a:solidFill>
                  <a:schemeClr val="bg1"/>
                </a:solidFill>
              </a:rPr>
              <a:t>(#"Columnas quitadas", "Hora.1", </a:t>
            </a:r>
            <a:r>
              <a:rPr lang="es-PE" sz="800" dirty="0" err="1">
                <a:solidFill>
                  <a:schemeClr val="bg1"/>
                </a:solidFill>
              </a:rPr>
              <a:t>each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Time.Hour</a:t>
            </a:r>
            <a:r>
              <a:rPr lang="es-PE" sz="800" dirty="0">
                <a:solidFill>
                  <a:schemeClr val="bg1"/>
                </a:solidFill>
              </a:rPr>
              <a:t>([Hora]), Int64.Type),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#"Minuto insertado" = </a:t>
            </a:r>
            <a:r>
              <a:rPr lang="es-PE" sz="800" dirty="0" err="1">
                <a:solidFill>
                  <a:schemeClr val="bg1"/>
                </a:solidFill>
              </a:rPr>
              <a:t>Table.AddColumn</a:t>
            </a:r>
            <a:r>
              <a:rPr lang="es-PE" sz="800" dirty="0">
                <a:solidFill>
                  <a:schemeClr val="bg1"/>
                </a:solidFill>
              </a:rPr>
              <a:t>(#"Hora insertada", "Minuto", </a:t>
            </a:r>
            <a:r>
              <a:rPr lang="es-PE" sz="800" dirty="0" err="1">
                <a:solidFill>
                  <a:schemeClr val="bg1"/>
                </a:solidFill>
              </a:rPr>
              <a:t>each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Time.Minute</a:t>
            </a:r>
            <a:r>
              <a:rPr lang="es-PE" sz="800" dirty="0">
                <a:solidFill>
                  <a:schemeClr val="bg1"/>
                </a:solidFill>
              </a:rPr>
              <a:t>([Hora]), Int64.Type),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#"Personalizada agregada" = </a:t>
            </a:r>
            <a:r>
              <a:rPr lang="es-PE" sz="800" dirty="0" err="1">
                <a:solidFill>
                  <a:schemeClr val="bg1"/>
                </a:solidFill>
              </a:rPr>
              <a:t>Table.AddColumn</a:t>
            </a:r>
            <a:r>
              <a:rPr lang="es-PE" sz="800" dirty="0">
                <a:solidFill>
                  <a:schemeClr val="bg1"/>
                </a:solidFill>
              </a:rPr>
              <a:t>(#"Minuto insertado", "MA", </a:t>
            </a:r>
            <a:r>
              <a:rPr lang="es-PE" sz="800" dirty="0" err="1">
                <a:solidFill>
                  <a:schemeClr val="bg1"/>
                </a:solidFill>
              </a:rPr>
              <a:t>each</a:t>
            </a:r>
            <a:r>
              <a:rPr lang="es-PE" sz="800" dirty="0">
                <a:solidFill>
                  <a:schemeClr val="bg1"/>
                </a:solidFill>
              </a:rPr>
              <a:t> "/10/2024 "),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#"Personalizada agregada1" = </a:t>
            </a:r>
            <a:r>
              <a:rPr lang="es-PE" sz="800" dirty="0" err="1">
                <a:solidFill>
                  <a:schemeClr val="bg1"/>
                </a:solidFill>
              </a:rPr>
              <a:t>Table.AddColumn</a:t>
            </a:r>
            <a:r>
              <a:rPr lang="es-PE" sz="800" dirty="0">
                <a:solidFill>
                  <a:schemeClr val="bg1"/>
                </a:solidFill>
              </a:rPr>
              <a:t>(#"Personalizada agregada", "Fecha", </a:t>
            </a:r>
            <a:r>
              <a:rPr lang="es-PE" sz="800" dirty="0" err="1">
                <a:solidFill>
                  <a:schemeClr val="bg1"/>
                </a:solidFill>
              </a:rPr>
              <a:t>each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Number.ToText</a:t>
            </a:r>
            <a:r>
              <a:rPr lang="es-PE" sz="800" dirty="0">
                <a:solidFill>
                  <a:schemeClr val="bg1"/>
                </a:solidFill>
              </a:rPr>
              <a:t>([Día])&amp;[MA]&amp;</a:t>
            </a:r>
            <a:r>
              <a:rPr lang="es-PE" sz="800" dirty="0" err="1">
                <a:solidFill>
                  <a:schemeClr val="bg1"/>
                </a:solidFill>
              </a:rPr>
              <a:t>Number.ToText</a:t>
            </a:r>
            <a:r>
              <a:rPr lang="es-PE" sz="800" dirty="0">
                <a:solidFill>
                  <a:schemeClr val="bg1"/>
                </a:solidFill>
              </a:rPr>
              <a:t>([Hora.1])&amp;":"&amp;</a:t>
            </a:r>
            <a:r>
              <a:rPr lang="es-PE" sz="800" dirty="0" err="1">
                <a:solidFill>
                  <a:schemeClr val="bg1"/>
                </a:solidFill>
              </a:rPr>
              <a:t>Number.ToText</a:t>
            </a:r>
            <a:r>
              <a:rPr lang="es-PE" sz="800" dirty="0">
                <a:solidFill>
                  <a:schemeClr val="bg1"/>
                </a:solidFill>
              </a:rPr>
              <a:t>([Minuto])&amp;":00"),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#"Tipo cambiado1" = </a:t>
            </a:r>
            <a:r>
              <a:rPr lang="es-PE" sz="800" dirty="0" err="1">
                <a:solidFill>
                  <a:schemeClr val="bg1"/>
                </a:solidFill>
              </a:rPr>
              <a:t>Table.TransformColumnTypes</a:t>
            </a:r>
            <a:r>
              <a:rPr lang="es-PE" sz="800" dirty="0">
                <a:solidFill>
                  <a:schemeClr val="bg1"/>
                </a:solidFill>
              </a:rPr>
              <a:t>(#"Personalizada agregada1",{{"Fecha", </a:t>
            </a:r>
            <a:r>
              <a:rPr lang="es-PE" sz="800" dirty="0" err="1">
                <a:solidFill>
                  <a:schemeClr val="bg1"/>
                </a:solidFill>
              </a:rPr>
              <a:t>type</a:t>
            </a:r>
            <a:r>
              <a:rPr lang="es-PE" sz="800" dirty="0">
                <a:solidFill>
                  <a:schemeClr val="bg1"/>
                </a:solidFill>
              </a:rPr>
              <a:t> </a:t>
            </a:r>
            <a:r>
              <a:rPr lang="es-PE" sz="800" dirty="0" err="1">
                <a:solidFill>
                  <a:schemeClr val="bg1"/>
                </a:solidFill>
              </a:rPr>
              <a:t>datetime</a:t>
            </a:r>
            <a:r>
              <a:rPr lang="es-PE" sz="800" dirty="0">
                <a:solidFill>
                  <a:schemeClr val="bg1"/>
                </a:solidFill>
              </a:rPr>
              <a:t>}})</a:t>
            </a:r>
          </a:p>
          <a:p>
            <a:r>
              <a:rPr lang="es-PE" sz="800" dirty="0">
                <a:solidFill>
                  <a:schemeClr val="bg1"/>
                </a:solidFill>
              </a:rPr>
              <a:t>in</a:t>
            </a:r>
          </a:p>
          <a:p>
            <a:r>
              <a:rPr lang="es-PE" sz="800" dirty="0">
                <a:solidFill>
                  <a:schemeClr val="bg1"/>
                </a:solidFill>
              </a:rPr>
              <a:t>    #"Tipo cambiado1"</a:t>
            </a:r>
          </a:p>
        </p:txBody>
      </p:sp>
    </p:spTree>
    <p:extLst>
      <p:ext uri="{BB962C8B-B14F-4D97-AF65-F5344CB8AC3E}">
        <p14:creationId xmlns:p14="http://schemas.microsoft.com/office/powerpoint/2010/main" val="2262217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16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614BB1-ACC8-10BF-6530-4115C3FDD444}"/>
              </a:ext>
            </a:extLst>
          </p:cNvPr>
          <p:cNvSpPr txBox="1"/>
          <p:nvPr/>
        </p:nvSpPr>
        <p:spPr>
          <a:xfrm>
            <a:off x="594360" y="2670805"/>
            <a:ext cx="21132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Visualización, construcción del  Cuadro de Mando  </a:t>
            </a:r>
            <a:endParaRPr lang="es-PE" sz="20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C9C177-23A2-00BC-924C-1649AB586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578" y="1509558"/>
            <a:ext cx="8221222" cy="49155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7F28FA9-3ED1-92E3-7033-39C2789070A6}"/>
              </a:ext>
            </a:extLst>
          </p:cNvPr>
          <p:cNvSpPr txBox="1"/>
          <p:nvPr/>
        </p:nvSpPr>
        <p:spPr>
          <a:xfrm>
            <a:off x="-679169" y="6255178"/>
            <a:ext cx="3810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rgbClr val="FFFF00"/>
                </a:solidFill>
              </a:rPr>
              <a:t>Asignar tarea</a:t>
            </a:r>
            <a:endParaRPr lang="es-PE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11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17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CASO PRÁCTICO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614BB1-ACC8-10BF-6530-4115C3FDD444}"/>
              </a:ext>
            </a:extLst>
          </p:cNvPr>
          <p:cNvSpPr txBox="1"/>
          <p:nvPr/>
        </p:nvSpPr>
        <p:spPr>
          <a:xfrm>
            <a:off x="594360" y="2670805"/>
            <a:ext cx="21132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Visualización, construcción del  Cuadro de Mando  </a:t>
            </a:r>
            <a:endParaRPr lang="es-PE" sz="20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131DCA-D035-761E-3D9B-11D4B23A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324" y="809520"/>
            <a:ext cx="3625787" cy="25498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FA4D1D8-9F6F-EF73-D606-21FE8ED0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724" y="3041650"/>
            <a:ext cx="3793024" cy="26701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0548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D94CBA-851C-BDE7-732D-92EE663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A64-9479-4B8A-BF99-1CE8197C921D}" type="slidenum">
              <a:rPr lang="es-PE" smtClean="0"/>
              <a:t>18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24BF6-0B2A-5E4E-0BAF-E0F734D089BA}"/>
              </a:ext>
            </a:extLst>
          </p:cNvPr>
          <p:cNvSpPr txBox="1"/>
          <p:nvPr/>
        </p:nvSpPr>
        <p:spPr>
          <a:xfrm>
            <a:off x="594360" y="1524258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CONCLUSIÓN</a:t>
            </a:r>
            <a:endParaRPr lang="es-PE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DDE901-AD77-E0FC-DA49-331FB2ED17C2}"/>
              </a:ext>
            </a:extLst>
          </p:cNvPr>
          <p:cNvSpPr txBox="1"/>
          <p:nvPr/>
        </p:nvSpPr>
        <p:spPr>
          <a:xfrm>
            <a:off x="2820353" y="2471420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ha definido que es un Cuadro de Mando, Power Query y Power Pivot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ha Construido Cuadro de Mando utilizando Power Query y Power Pivot en MS Excel.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ha asignado tareas a los alumnos para que aprendan a usar las herramientas anteriores repitiendo lo hecho por el profesor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ha asignado una tarea adicional para reforzar el aprendizaje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Evaluación (queda pendiente)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D2D024-6AB3-190D-C640-D7F998BB470B}"/>
              </a:ext>
            </a:extLst>
          </p:cNvPr>
          <p:cNvSpPr txBox="1"/>
          <p:nvPr/>
        </p:nvSpPr>
        <p:spPr>
          <a:xfrm>
            <a:off x="7778931" y="5614213"/>
            <a:ext cx="253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FFFF00"/>
                </a:solidFill>
              </a:rPr>
              <a:t>Asignar trabajo</a:t>
            </a:r>
            <a:endParaRPr lang="es-PE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209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1169</Words>
  <Application>Microsoft Office PowerPoint</Application>
  <PresentationFormat>Panorámica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Segoe UI Emoji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Framklin Dávila</dc:creator>
  <cp:lastModifiedBy>Framklin Dávila</cp:lastModifiedBy>
  <cp:revision>2</cp:revision>
  <dcterms:created xsi:type="dcterms:W3CDTF">2025-03-16T03:29:35Z</dcterms:created>
  <dcterms:modified xsi:type="dcterms:W3CDTF">2026-04-05T15:37:10Z</dcterms:modified>
</cp:coreProperties>
</file>